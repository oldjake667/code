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66928"/>
            <a:ext cx="107899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00" b="1">
                <a:solidFill>
                  <a:srgbClr val="6DD1CA"/>
                </a:solidFill>
                <a:latin typeface="Aptos"/>
              </a:rPr>
              <a:t>PAPER REPLICATION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325880"/>
            <a:ext cx="1078992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Validation accuracy by epoch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106984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200" b="0">
                <a:solidFill>
                  <a:srgbClr val="B9D4E5"/>
                </a:solidFill>
                <a:latin typeface="Aptos"/>
              </a:rPr>
              <a:t>Seven saved validation-accuracy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Y-axis: validation accuracy  •  X-axis: epoch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33872"/>
            <a:ext cx="10698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A6B8C8"/>
                </a:solidFill>
                <a:latin typeface="Aptos"/>
              </a:rPr>
              <a:t>31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182880"/>
            <a:ext cx="10972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1">
                <a:solidFill>
                  <a:srgbClr val="28689D"/>
                </a:solidFill>
                <a:latin typeface="Aptos"/>
              </a:rPr>
              <a:t>20-EPOCH TRAINING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45720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700" b="1">
                <a:solidFill>
                  <a:srgbClr val="152536"/>
                </a:solidFill>
                <a:latin typeface="Aptos"/>
              </a:rPr>
              <a:t>CNN from scratch</a:t>
            </a:r>
          </a:p>
        </p:txBody>
      </p:sp>
      <p:pic>
        <p:nvPicPr>
          <p:cNvPr id="4" name="Picture 3" descr="cnn_validation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051560"/>
            <a:ext cx="11064240" cy="47008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73952"/>
            <a:ext cx="109270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000" b="0">
                <a:solidFill>
                  <a:srgbClr val="667788"/>
                </a:solidFill>
                <a:latin typeface="Aptos"/>
              </a:rPr>
              <a:t>Every saved epoch is shown • 20 epochs • final validation accuracy 91.11%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182880"/>
            <a:ext cx="10972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1">
                <a:solidFill>
                  <a:srgbClr val="28689D"/>
                </a:solidFill>
                <a:latin typeface="Aptos"/>
              </a:rPr>
              <a:t>20-EPOCH FROZEN-BACKBONE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45720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700" b="1">
                <a:solidFill>
                  <a:srgbClr val="152536"/>
                </a:solidFill>
                <a:latin typeface="Aptos"/>
              </a:rPr>
              <a:t>ViT-Tiny frozen</a:t>
            </a:r>
          </a:p>
        </p:txBody>
      </p:sp>
      <p:pic>
        <p:nvPicPr>
          <p:cNvPr id="4" name="Picture 3" descr="vit_tiny_frozen_validation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051560"/>
            <a:ext cx="11064240" cy="47008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73952"/>
            <a:ext cx="109270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000" b="0">
                <a:solidFill>
                  <a:srgbClr val="667788"/>
                </a:solidFill>
                <a:latin typeface="Aptos"/>
              </a:rPr>
              <a:t>Every saved epoch is shown • 20 epochs • final validation accuracy 93.33%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182880"/>
            <a:ext cx="10972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1">
                <a:solidFill>
                  <a:srgbClr val="188C87"/>
                </a:solidFill>
                <a:latin typeface="Aptos"/>
              </a:rPr>
              <a:t>10-EPOCH FINE-TUNING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45720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700" b="1">
                <a:solidFill>
                  <a:srgbClr val="152536"/>
                </a:solidFill>
                <a:latin typeface="Aptos"/>
              </a:rPr>
              <a:t>ViT-Tiny fine-tuned</a:t>
            </a:r>
          </a:p>
        </p:txBody>
      </p:sp>
      <p:pic>
        <p:nvPicPr>
          <p:cNvPr id="4" name="Picture 3" descr="vit_tiny_fine_tuned_validation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051560"/>
            <a:ext cx="11064240" cy="47008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73952"/>
            <a:ext cx="109270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000" b="0">
                <a:solidFill>
                  <a:srgbClr val="667788"/>
                </a:solidFill>
                <a:latin typeface="Aptos"/>
              </a:rPr>
              <a:t>Every saved epoch is shown • 10 epochs • final validation accuracy 95.56%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182880"/>
            <a:ext cx="10972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1">
                <a:solidFill>
                  <a:srgbClr val="28689D"/>
                </a:solidFill>
                <a:latin typeface="Aptos"/>
              </a:rPr>
              <a:t>20-EPOCH FROZEN-BACKBONE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45720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700" b="1">
                <a:solidFill>
                  <a:srgbClr val="152536"/>
                </a:solidFill>
                <a:latin typeface="Aptos"/>
              </a:rPr>
              <a:t>DINOv2 frozen</a:t>
            </a:r>
          </a:p>
        </p:txBody>
      </p:sp>
      <p:pic>
        <p:nvPicPr>
          <p:cNvPr id="4" name="Picture 3" descr="dinov2_frozen_validation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051560"/>
            <a:ext cx="11064240" cy="47008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73952"/>
            <a:ext cx="109270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000" b="0">
                <a:solidFill>
                  <a:srgbClr val="667788"/>
                </a:solidFill>
                <a:latin typeface="Aptos"/>
              </a:rPr>
              <a:t>Every saved epoch is shown • 20 epochs • final validation accuracy 91.11%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182880"/>
            <a:ext cx="10972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1">
                <a:solidFill>
                  <a:srgbClr val="188C87"/>
                </a:solidFill>
                <a:latin typeface="Aptos"/>
              </a:rPr>
              <a:t>10-EPOCH FINE-TUNING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45720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700" b="1">
                <a:solidFill>
                  <a:srgbClr val="152536"/>
                </a:solidFill>
                <a:latin typeface="Aptos"/>
              </a:rPr>
              <a:t>DINOv2 fine-tuned</a:t>
            </a:r>
          </a:p>
        </p:txBody>
      </p:sp>
      <p:pic>
        <p:nvPicPr>
          <p:cNvPr id="4" name="Picture 3" descr="dinov2_fine_tuned_validation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051560"/>
            <a:ext cx="11064240" cy="47008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73952"/>
            <a:ext cx="109270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000" b="0">
                <a:solidFill>
                  <a:srgbClr val="667788"/>
                </a:solidFill>
                <a:latin typeface="Aptos"/>
              </a:rPr>
              <a:t>Every saved epoch is shown • 10 epochs • final validation accuracy 88.89%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182880"/>
            <a:ext cx="10972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1">
                <a:solidFill>
                  <a:srgbClr val="28689D"/>
                </a:solidFill>
                <a:latin typeface="Aptos"/>
              </a:rPr>
              <a:t>20-EPOCH FROZEN-BACKBONE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45720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700" b="1">
                <a:solidFill>
                  <a:srgbClr val="152536"/>
                </a:solidFill>
                <a:latin typeface="Aptos"/>
              </a:rPr>
              <a:t>VMamba frozen</a:t>
            </a:r>
          </a:p>
        </p:txBody>
      </p:sp>
      <p:pic>
        <p:nvPicPr>
          <p:cNvPr id="4" name="Picture 3" descr="vmamba_frozen_validation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051560"/>
            <a:ext cx="11064240" cy="47008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73952"/>
            <a:ext cx="109270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000" b="0">
                <a:solidFill>
                  <a:srgbClr val="667788"/>
                </a:solidFill>
                <a:latin typeface="Aptos"/>
              </a:rPr>
              <a:t>Every saved epoch is shown • 20 epochs • final validation accuracy 93.33%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182880"/>
            <a:ext cx="10972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1">
                <a:solidFill>
                  <a:srgbClr val="188C87"/>
                </a:solidFill>
                <a:latin typeface="Aptos"/>
              </a:rPr>
              <a:t>10-EPOCH FINE-TUNING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45720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700" b="1">
                <a:solidFill>
                  <a:srgbClr val="152536"/>
                </a:solidFill>
                <a:latin typeface="Aptos"/>
              </a:rPr>
              <a:t>VMamba fine-tuned</a:t>
            </a:r>
          </a:p>
        </p:txBody>
      </p:sp>
      <p:pic>
        <p:nvPicPr>
          <p:cNvPr id="4" name="Picture 3" descr="vmamba_fine_tuned_validation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051560"/>
            <a:ext cx="11064240" cy="47008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73952"/>
            <a:ext cx="109270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000" b="0">
                <a:solidFill>
                  <a:srgbClr val="667788"/>
                </a:solidFill>
                <a:latin typeface="Aptos"/>
              </a:rPr>
              <a:t>Every saved epoch is shown • 10 epochs • final validation accuracy 97.78%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