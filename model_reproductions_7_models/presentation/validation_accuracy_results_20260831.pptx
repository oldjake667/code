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6DD1CA"/>
                </a:solidFill>
                <a:latin typeface="Aptos"/>
              </a:rPr>
              <a:t>PAPER REPLICATION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25880"/>
            <a:ext cx="1078992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Validation accuracy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0">
                <a:solidFill>
                  <a:srgbClr val="B9D4E5"/>
                </a:solidFill>
                <a:latin typeface="Aptos"/>
              </a:rPr>
              <a:t>CNN, ViT-Tiny, DINOv2 and VMamba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Best saved checkpoints on the shared 45-image validation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33872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A6B8C8"/>
                </a:solidFill>
                <a:latin typeface="Aptos"/>
              </a:rPr>
              <a:t>31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10972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188C87"/>
                </a:solidFill>
                <a:latin typeface="Aptos"/>
              </a:rPr>
              <a:t>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02920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52536"/>
                </a:solidFill>
                <a:latin typeface="Aptos"/>
              </a:rPr>
              <a:t>Best validation accuracy by model</a:t>
            </a:r>
          </a:p>
        </p:txBody>
      </p:sp>
      <p:pic>
        <p:nvPicPr>
          <p:cNvPr id="4" name="Picture 3" descr="validation_accuracy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61288"/>
            <a:ext cx="11064240" cy="46622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73952"/>
            <a:ext cx="109270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Aptos"/>
              </a:rPr>
              <a:t>All values use the best saved validation checkpoint. One image equals 2.22 percentage 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10972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188C87"/>
                </a:solidFill>
                <a:latin typeface="Aptos"/>
              </a:rPr>
              <a:t>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02920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52536"/>
                </a:solidFill>
                <a:latin typeface="Aptos"/>
              </a:rPr>
              <a:t>Effect of fine-tuning the pretrained models</a:t>
            </a:r>
          </a:p>
        </p:txBody>
      </p:sp>
      <p:pic>
        <p:nvPicPr>
          <p:cNvPr id="4" name="Picture 3" descr="validation_accuracy_frozen_vs_finetu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10835640" cy="47118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73952"/>
            <a:ext cx="109270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Aptos"/>
              </a:rPr>
              <a:t>Fine-tuning changed ViT-Tiny by +2.22 pp, DINOv2 by 0.00 pp, and VMamba by +4.44 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10972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188C87"/>
                </a:solidFill>
                <a:latin typeface="Aptos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02920"/>
            <a:ext cx="10972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52536"/>
                </a:solidFill>
                <a:latin typeface="Aptos"/>
              </a:rPr>
              <a:t>What the comparison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3429000"/>
          </a:xfrm>
          <a:prstGeom prst="rect">
            <a:avLst/>
          </a:prstGeom>
          <a:solidFill>
            <a:srgbClr val="188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55648"/>
            <a:ext cx="28346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100" b="1">
                <a:solidFill>
                  <a:srgbClr val="152536"/>
                </a:solidFill>
                <a:latin typeface="Aptos"/>
              </a:rPr>
              <a:t>44/45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95728"/>
            <a:ext cx="28346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188C87"/>
                </a:solidFill>
                <a:latin typeface="Aptos"/>
              </a:rPr>
              <a:t>97.78%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36392"/>
            <a:ext cx="278892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0">
                <a:solidFill>
                  <a:srgbClr val="344657"/>
                </a:solidFill>
                <a:latin typeface="Aptos"/>
              </a:rPr>
              <a:t>VMamba fine-tuned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417320"/>
            <a:ext cx="3383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1417320"/>
            <a:ext cx="73152" cy="3429000"/>
          </a:xfrm>
          <a:prstGeom prst="rect">
            <a:avLst/>
          </a:prstGeom>
          <a:solidFill>
            <a:srgbClr val="286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1755648"/>
            <a:ext cx="28346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100" b="1">
                <a:solidFill>
                  <a:srgbClr val="152536"/>
                </a:solidFill>
                <a:latin typeface="Aptos"/>
              </a:rPr>
              <a:t>43/45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395728"/>
            <a:ext cx="28346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28689D"/>
                </a:solidFill>
                <a:latin typeface="Aptos"/>
              </a:rPr>
              <a:t>95.56%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3136392"/>
            <a:ext cx="278892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0">
                <a:solidFill>
                  <a:srgbClr val="344657"/>
                </a:solidFill>
                <a:latin typeface="Aptos"/>
              </a:rPr>
              <a:t>ViT-Tiny FT and both DINOv2 runs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417320"/>
            <a:ext cx="3383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1417320"/>
            <a:ext cx="73152" cy="3429000"/>
          </a:xfrm>
          <a:prstGeom prst="rect">
            <a:avLst/>
          </a:prstGeom>
          <a:solidFill>
            <a:srgbClr val="E1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755648"/>
            <a:ext cx="28346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100" b="1">
                <a:solidFill>
                  <a:srgbClr val="152536"/>
                </a:solidFill>
                <a:latin typeface="Aptos"/>
              </a:rPr>
              <a:t>42/45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2395728"/>
            <a:ext cx="28346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E1843B"/>
                </a:solidFill>
                <a:latin typeface="Aptos"/>
              </a:rPr>
              <a:t>93.33%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3136392"/>
            <a:ext cx="278892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0">
                <a:solidFill>
                  <a:srgbClr val="344657"/>
                </a:solidFill>
                <a:latin typeface="Aptos"/>
              </a:rPr>
              <a:t>CNN, ViT-Tiny frozen and VMamba frozen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21808"/>
            <a:ext cx="1051560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600" b="0">
                <a:solidFill>
                  <a:srgbClr val="667788"/>
                </a:solidFill>
                <a:latin typeface="Aptos"/>
              </a:rPr>
              <a:t>These are validation results, not independent test results. The small split supports a controlled comparison, but not a claim of general architectural superiority.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